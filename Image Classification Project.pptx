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Poppins"/>
      <p:regular r:id="rId16"/>
      <p:bold r:id="rId17"/>
      <p:italic r:id="rId18"/>
      <p:boldItalic r:id="rId19"/>
    </p:embeddedFont>
    <p:embeddedFont>
      <p:font typeface="Poppins Light"/>
      <p:regular r:id="rId20"/>
      <p:bold r:id="rId21"/>
      <p:italic r:id="rId22"/>
      <p:boldItalic r:id="rId23"/>
    </p:embeddedFont>
    <p:embeddedFont>
      <p:font typeface="Poppins Medium"/>
      <p:regular r:id="rId24"/>
      <p:bold r:id="rId25"/>
      <p:italic r:id="rId26"/>
      <p:boldItalic r:id="rId27"/>
    </p:embeddedFont>
    <p:embeddedFont>
      <p:font typeface="Poppins SemiBold"/>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oppinsLight-regular.fntdata"/><Relationship Id="rId22" Type="http://schemas.openxmlformats.org/officeDocument/2006/relationships/font" Target="fonts/PoppinsLight-italic.fntdata"/><Relationship Id="rId21" Type="http://schemas.openxmlformats.org/officeDocument/2006/relationships/font" Target="fonts/PoppinsLight-bold.fntdata"/><Relationship Id="rId24" Type="http://schemas.openxmlformats.org/officeDocument/2006/relationships/font" Target="fonts/PoppinsMedium-regular.fntdata"/><Relationship Id="rId23" Type="http://schemas.openxmlformats.org/officeDocument/2006/relationships/font" Target="fonts/PoppinsLight-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oppinsMedium-italic.fntdata"/><Relationship Id="rId25" Type="http://schemas.openxmlformats.org/officeDocument/2006/relationships/font" Target="fonts/PoppinsMedium-bold.fntdata"/><Relationship Id="rId28" Type="http://schemas.openxmlformats.org/officeDocument/2006/relationships/font" Target="fonts/PoppinsSemiBold-regular.fntdata"/><Relationship Id="rId27" Type="http://schemas.openxmlformats.org/officeDocument/2006/relationships/font" Target="fonts/PoppinsMedium-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PoppinsSemiBold-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PoppinsSemiBold-boldItalic.fntdata"/><Relationship Id="rId30" Type="http://schemas.openxmlformats.org/officeDocument/2006/relationships/font" Target="fonts/PoppinsSemi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Poppins-bold.fntdata"/><Relationship Id="rId16" Type="http://schemas.openxmlformats.org/officeDocument/2006/relationships/font" Target="fonts/Poppins-regular.fntdata"/><Relationship Id="rId19" Type="http://schemas.openxmlformats.org/officeDocument/2006/relationships/font" Target="fonts/Poppins-boldItalic.fntdata"/><Relationship Id="rId18" Type="http://schemas.openxmlformats.org/officeDocument/2006/relationships/font" Target="fonts/Poppins-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cce6ac83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cce6ac83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cce6ac835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cce6ac835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cce6ac835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cce6ac835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ce6ac835a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ce6ac835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cce6ac835a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cce6ac835a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cce6ac835a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cce6ac835a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cce6ac835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cce6ac835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cce6ac835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cce6ac835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cce6ac835a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cce6ac835a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654"/>
        </a:solidFill>
      </p:bgPr>
    </p:bg>
    <p:spTree>
      <p:nvGrpSpPr>
        <p:cNvPr id="53" name="Shape 53"/>
        <p:cNvGrpSpPr/>
        <p:nvPr/>
      </p:nvGrpSpPr>
      <p:grpSpPr>
        <a:xfrm>
          <a:off x="0" y="0"/>
          <a:ext cx="0" cy="0"/>
          <a:chOff x="0" y="0"/>
          <a:chExt cx="0" cy="0"/>
        </a:xfrm>
      </p:grpSpPr>
      <p:sp>
        <p:nvSpPr>
          <p:cNvPr id="54" name="Google Shape;54;p13"/>
          <p:cNvSpPr txBox="1"/>
          <p:nvPr/>
        </p:nvSpPr>
        <p:spPr>
          <a:xfrm>
            <a:off x="462075" y="2031025"/>
            <a:ext cx="59565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4000">
                <a:solidFill>
                  <a:schemeClr val="lt1"/>
                </a:solidFill>
                <a:latin typeface="Poppins SemiBold"/>
                <a:ea typeface="Poppins SemiBold"/>
                <a:cs typeface="Poppins SemiBold"/>
                <a:sym typeface="Poppins SemiBold"/>
              </a:rPr>
              <a:t>Image Classification with CNN</a:t>
            </a:r>
            <a:endParaRPr sz="1000"/>
          </a:p>
        </p:txBody>
      </p:sp>
      <p:sp>
        <p:nvSpPr>
          <p:cNvPr id="55" name="Google Shape;55;p13"/>
          <p:cNvSpPr txBox="1"/>
          <p:nvPr/>
        </p:nvSpPr>
        <p:spPr>
          <a:xfrm>
            <a:off x="462075" y="161500"/>
            <a:ext cx="30000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chemeClr val="lt1"/>
                </a:solidFill>
                <a:latin typeface="Poppins Light"/>
                <a:ea typeface="Poppins Light"/>
                <a:cs typeface="Poppins Light"/>
                <a:sym typeface="Poppins Light"/>
              </a:rPr>
              <a:t>Ironhack Project</a:t>
            </a:r>
            <a:endParaRPr sz="1200">
              <a:solidFill>
                <a:schemeClr val="lt1"/>
              </a:solidFill>
              <a:latin typeface="Poppins Light"/>
              <a:ea typeface="Poppins Light"/>
              <a:cs typeface="Poppins Light"/>
              <a:sym typeface="Poppins Light"/>
            </a:endParaRPr>
          </a:p>
        </p:txBody>
      </p:sp>
      <p:sp>
        <p:nvSpPr>
          <p:cNvPr id="56" name="Google Shape;56;p13"/>
          <p:cNvSpPr txBox="1"/>
          <p:nvPr/>
        </p:nvSpPr>
        <p:spPr>
          <a:xfrm>
            <a:off x="462075" y="3831850"/>
            <a:ext cx="6596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lt1"/>
                </a:solidFill>
                <a:latin typeface="Poppins"/>
                <a:ea typeface="Poppins"/>
                <a:cs typeface="Poppins"/>
                <a:sym typeface="Poppins"/>
              </a:rPr>
              <a:t>A deep learning approach to 10-class animal detection</a:t>
            </a:r>
            <a:r>
              <a:rPr lang="en" sz="1800">
                <a:solidFill>
                  <a:schemeClr val="lt1"/>
                </a:solidFill>
                <a:latin typeface="Poppins"/>
                <a:ea typeface="Poppins"/>
                <a:cs typeface="Poppins"/>
                <a:sym typeface="Poppins"/>
              </a:rPr>
              <a:t> </a:t>
            </a:r>
            <a:endParaRPr sz="1800">
              <a:solidFill>
                <a:schemeClr val="lt1"/>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654"/>
        </a:solidFill>
      </p:bgPr>
    </p:bg>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oppins Medium"/>
                <a:ea typeface="Poppins Medium"/>
                <a:cs typeface="Poppins Medium"/>
                <a:sym typeface="Poppins Medium"/>
              </a:rPr>
              <a:t>Data Validation and Preprocessing </a:t>
            </a:r>
            <a:endParaRPr>
              <a:solidFill>
                <a:schemeClr val="lt1"/>
              </a:solidFill>
              <a:latin typeface="Poppins Medium"/>
              <a:ea typeface="Poppins Medium"/>
              <a:cs typeface="Poppins Medium"/>
              <a:sym typeface="Poppins Medium"/>
            </a:endParaRPr>
          </a:p>
        </p:txBody>
      </p:sp>
      <p:sp>
        <p:nvSpPr>
          <p:cNvPr id="62" name="Google Shape;62;p14"/>
          <p:cNvSpPr txBox="1"/>
          <p:nvPr>
            <p:ph idx="1" type="body"/>
          </p:nvPr>
        </p:nvSpPr>
        <p:spPr>
          <a:xfrm>
            <a:off x="311700" y="1152475"/>
            <a:ext cx="4661100" cy="826500"/>
          </a:xfrm>
          <a:prstGeom prst="rect">
            <a:avLst/>
          </a:prstGeom>
        </p:spPr>
        <p:txBody>
          <a:bodyPr anchorCtr="0" anchor="t" bIns="91425" lIns="91425" spcFirstLastPara="1" rIns="91425" wrap="square" tIns="91425">
            <a:normAutofit fontScale="92500" lnSpcReduction="20000"/>
          </a:bodyPr>
          <a:lstStyle/>
          <a:p>
            <a:pPr indent="-322580" lvl="0" marL="457200" rtl="0" algn="l">
              <a:spcBef>
                <a:spcPts val="0"/>
              </a:spcBef>
              <a:spcAft>
                <a:spcPts val="0"/>
              </a:spcAft>
              <a:buClr>
                <a:srgbClr val="FFFFFF"/>
              </a:buClr>
              <a:buSzPct val="100000"/>
              <a:buFont typeface="Poppins"/>
              <a:buChar char="●"/>
            </a:pPr>
            <a:r>
              <a:rPr lang="en" sz="1600">
                <a:solidFill>
                  <a:srgbClr val="FFFFFF"/>
                </a:solidFill>
                <a:latin typeface="Poppins"/>
                <a:ea typeface="Poppins"/>
                <a:cs typeface="Poppins"/>
                <a:sym typeface="Poppins"/>
              </a:rPr>
              <a:t>Visually validate the data </a:t>
            </a:r>
            <a:endParaRPr sz="1600">
              <a:solidFill>
                <a:srgbClr val="FFFFFF"/>
              </a:solidFill>
              <a:latin typeface="Poppins"/>
              <a:ea typeface="Poppins"/>
              <a:cs typeface="Poppins"/>
              <a:sym typeface="Poppins"/>
            </a:endParaRPr>
          </a:p>
          <a:p>
            <a:pPr indent="-322580" lvl="0" marL="457200" rtl="0" algn="l">
              <a:spcBef>
                <a:spcPts val="0"/>
              </a:spcBef>
              <a:spcAft>
                <a:spcPts val="0"/>
              </a:spcAft>
              <a:buClr>
                <a:srgbClr val="FFFFFF"/>
              </a:buClr>
              <a:buSzPct val="100000"/>
              <a:buFont typeface="Poppins"/>
              <a:buChar char="●"/>
            </a:pPr>
            <a:r>
              <a:rPr lang="en" sz="1600">
                <a:solidFill>
                  <a:srgbClr val="FFFFFF"/>
                </a:solidFill>
                <a:latin typeface="Poppins"/>
                <a:ea typeface="Poppins"/>
                <a:cs typeface="Poppins"/>
                <a:sym typeface="Poppins"/>
              </a:rPr>
              <a:t>Check class balance (data is not balanced - calculate weights)</a:t>
            </a:r>
            <a:endParaRPr sz="1600">
              <a:solidFill>
                <a:srgbClr val="FFFFFF"/>
              </a:solidFill>
              <a:latin typeface="Poppins"/>
              <a:ea typeface="Poppins"/>
              <a:cs typeface="Poppins"/>
              <a:sym typeface="Poppins"/>
            </a:endParaRPr>
          </a:p>
        </p:txBody>
      </p:sp>
      <p:pic>
        <p:nvPicPr>
          <p:cNvPr id="63" name="Google Shape;63;p14" title="Screenshot 2026-03-04 at 21.16.15.png"/>
          <p:cNvPicPr preferRelativeResize="0"/>
          <p:nvPr/>
        </p:nvPicPr>
        <p:blipFill>
          <a:blip r:embed="rId3">
            <a:alphaModFix/>
          </a:blip>
          <a:stretch>
            <a:fillRect/>
          </a:stretch>
        </p:blipFill>
        <p:spPr>
          <a:xfrm>
            <a:off x="5109350" y="1095725"/>
            <a:ext cx="3579274" cy="3604175"/>
          </a:xfrm>
          <a:prstGeom prst="rect">
            <a:avLst/>
          </a:prstGeom>
          <a:noFill/>
          <a:ln>
            <a:noFill/>
          </a:ln>
        </p:spPr>
      </p:pic>
      <p:pic>
        <p:nvPicPr>
          <p:cNvPr id="64" name="Google Shape;64;p14" title="Screenshot 2026-03-05 at 10.49.47.png"/>
          <p:cNvPicPr preferRelativeResize="0"/>
          <p:nvPr/>
        </p:nvPicPr>
        <p:blipFill>
          <a:blip r:embed="rId4">
            <a:alphaModFix/>
          </a:blip>
          <a:stretch>
            <a:fillRect/>
          </a:stretch>
        </p:blipFill>
        <p:spPr>
          <a:xfrm>
            <a:off x="855850" y="1978975"/>
            <a:ext cx="1980475" cy="1413550"/>
          </a:xfrm>
          <a:prstGeom prst="rect">
            <a:avLst/>
          </a:prstGeom>
          <a:noFill/>
          <a:ln>
            <a:noFill/>
          </a:ln>
        </p:spPr>
      </p:pic>
      <p:sp>
        <p:nvSpPr>
          <p:cNvPr id="65" name="Google Shape;65;p14"/>
          <p:cNvSpPr txBox="1"/>
          <p:nvPr>
            <p:ph idx="1" type="body"/>
          </p:nvPr>
        </p:nvSpPr>
        <p:spPr>
          <a:xfrm>
            <a:off x="311700" y="3565475"/>
            <a:ext cx="3865200" cy="8265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Normalize the data: pixel values should be between 0 and 1</a:t>
            </a:r>
            <a:endParaRPr sz="1600">
              <a:solidFill>
                <a:srgbClr val="FFFFFF"/>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654"/>
        </a:solidFill>
      </p:bgPr>
    </p:bg>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oppins Medium"/>
                <a:ea typeface="Poppins Medium"/>
                <a:cs typeface="Poppins Medium"/>
                <a:sym typeface="Poppins Medium"/>
              </a:rPr>
              <a:t>Initial Model Architecture</a:t>
            </a:r>
            <a:endParaRPr>
              <a:solidFill>
                <a:schemeClr val="lt1"/>
              </a:solidFill>
              <a:latin typeface="Poppins Medium"/>
              <a:ea typeface="Poppins Medium"/>
              <a:cs typeface="Poppins Medium"/>
              <a:sym typeface="Poppins Medium"/>
            </a:endParaRPr>
          </a:p>
        </p:txBody>
      </p:sp>
      <p:sp>
        <p:nvSpPr>
          <p:cNvPr id="71" name="Google Shape;71;p15"/>
          <p:cNvSpPr txBox="1"/>
          <p:nvPr>
            <p:ph idx="1" type="body"/>
          </p:nvPr>
        </p:nvSpPr>
        <p:spPr>
          <a:xfrm>
            <a:off x="311700" y="1152475"/>
            <a:ext cx="48117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3 convolutional layers</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Added Dropout and early stopping to prevent overfitting</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Used Adam optimizer with a small learning rate (0.0001)</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Started with 50 epochs, but early stopping always terminated after 20 max</a:t>
            </a:r>
            <a:endParaRPr sz="1600">
              <a:solidFill>
                <a:srgbClr val="FFFFFF"/>
              </a:solidFill>
              <a:latin typeface="Poppins"/>
              <a:ea typeface="Poppins"/>
              <a:cs typeface="Poppins"/>
              <a:sym typeface="Poppins"/>
            </a:endParaRPr>
          </a:p>
        </p:txBody>
      </p:sp>
      <p:pic>
        <p:nvPicPr>
          <p:cNvPr id="72" name="Google Shape;72;p15" title="Screenshot 2026-03-05 at 11.23.32.png"/>
          <p:cNvPicPr preferRelativeResize="0"/>
          <p:nvPr/>
        </p:nvPicPr>
        <p:blipFill>
          <a:blip r:embed="rId3">
            <a:alphaModFix/>
          </a:blip>
          <a:stretch>
            <a:fillRect/>
          </a:stretch>
        </p:blipFill>
        <p:spPr>
          <a:xfrm>
            <a:off x="4944950" y="1152475"/>
            <a:ext cx="3715802" cy="269053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654"/>
        </a:solidFill>
      </p:bgPr>
    </p:bg>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oppins Medium"/>
                <a:ea typeface="Poppins Medium"/>
                <a:cs typeface="Poppins Medium"/>
                <a:sym typeface="Poppins Medium"/>
              </a:rPr>
              <a:t>Results &amp; Improvement Potential </a:t>
            </a:r>
            <a:endParaRPr>
              <a:solidFill>
                <a:schemeClr val="lt1"/>
              </a:solidFill>
              <a:latin typeface="Poppins Medium"/>
              <a:ea typeface="Poppins Medium"/>
              <a:cs typeface="Poppins Medium"/>
              <a:sym typeface="Poppins Medium"/>
            </a:endParaRPr>
          </a:p>
        </p:txBody>
      </p:sp>
      <p:sp>
        <p:nvSpPr>
          <p:cNvPr id="78" name="Google Shape;78;p16"/>
          <p:cNvSpPr txBox="1"/>
          <p:nvPr>
            <p:ph idx="1" type="body"/>
          </p:nvPr>
        </p:nvSpPr>
        <p:spPr>
          <a:xfrm>
            <a:off x="311700" y="1152475"/>
            <a:ext cx="57243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Biggest problem: overfitting! </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Accuracy on the training and validation sets differed by almost 0.35 (0.5 on validation, 0.85 training)</a:t>
            </a:r>
            <a:endParaRPr sz="1600">
              <a:solidFill>
                <a:srgbClr val="FFFFFF"/>
              </a:solidFill>
              <a:latin typeface="Poppins"/>
              <a:ea typeface="Poppins"/>
              <a:cs typeface="Poppins"/>
              <a:sym typeface="Poppins"/>
            </a:endParaRPr>
          </a:p>
          <a:p>
            <a:pPr indent="0" lvl="0" marL="0" rtl="0" algn="l">
              <a:spcBef>
                <a:spcPts val="1200"/>
              </a:spcBef>
              <a:spcAft>
                <a:spcPts val="1200"/>
              </a:spcAft>
              <a:buNone/>
            </a:pPr>
            <a:r>
              <a:t/>
            </a:r>
            <a:endParaRPr sz="1600">
              <a:solidFill>
                <a:srgbClr val="FFFFFF"/>
              </a:solidFill>
              <a:latin typeface="Poppins"/>
              <a:ea typeface="Poppins"/>
              <a:cs typeface="Poppins"/>
              <a:sym typeface="Poppins"/>
            </a:endParaRPr>
          </a:p>
        </p:txBody>
      </p:sp>
      <p:pic>
        <p:nvPicPr>
          <p:cNvPr id="79" name="Google Shape;79;p16" title="Screenshot 2026-03-05 at 11.26.40.png"/>
          <p:cNvPicPr preferRelativeResize="0"/>
          <p:nvPr/>
        </p:nvPicPr>
        <p:blipFill>
          <a:blip r:embed="rId3">
            <a:alphaModFix/>
          </a:blip>
          <a:stretch>
            <a:fillRect/>
          </a:stretch>
        </p:blipFill>
        <p:spPr>
          <a:xfrm>
            <a:off x="5763225" y="1905000"/>
            <a:ext cx="2979751" cy="27318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654"/>
        </a:solidFill>
      </p:bgPr>
    </p:bg>
    <p:spTree>
      <p:nvGrpSpPr>
        <p:cNvPr id="83" name="Shape 83"/>
        <p:cNvGrpSpPr/>
        <p:nvPr/>
      </p:nvGrpSpPr>
      <p:grpSpPr>
        <a:xfrm>
          <a:off x="0" y="0"/>
          <a:ext cx="0" cy="0"/>
          <a:chOff x="0" y="0"/>
          <a:chExt cx="0" cy="0"/>
        </a:xfrm>
      </p:grpSpPr>
      <p:sp>
        <p:nvSpPr>
          <p:cNvPr id="84" name="Google Shape;84;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solidFill>
                  <a:schemeClr val="lt1"/>
                </a:solidFill>
                <a:latin typeface="Poppins Medium"/>
                <a:ea typeface="Poppins Medium"/>
                <a:cs typeface="Poppins Medium"/>
                <a:sym typeface="Poppins Medium"/>
              </a:rPr>
              <a:t>Second Try: Ideas to Tackle Overfitting </a:t>
            </a:r>
            <a:endParaRPr>
              <a:solidFill>
                <a:schemeClr val="lt1"/>
              </a:solidFill>
              <a:latin typeface="Poppins Medium"/>
              <a:ea typeface="Poppins Medium"/>
              <a:cs typeface="Poppins Medium"/>
              <a:sym typeface="Poppins Medium"/>
            </a:endParaRPr>
          </a:p>
          <a:p>
            <a:pPr indent="0" lvl="0" marL="0" rtl="0" algn="l">
              <a:spcBef>
                <a:spcPts val="0"/>
              </a:spcBef>
              <a:spcAft>
                <a:spcPts val="0"/>
              </a:spcAft>
              <a:buNone/>
            </a:pPr>
            <a:r>
              <a:t/>
            </a:r>
            <a:endParaRPr/>
          </a:p>
        </p:txBody>
      </p:sp>
      <p:sp>
        <p:nvSpPr>
          <p:cNvPr id="85" name="Google Shape;85;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Added Data Augmentation (random flip, rotation, zoom, contrast) to give the model “new” images on every epoch </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Replaced the standard Flatten layer with Global Average Pooling to reduce the total number of parameters and force the network to focus on the global presence of features rather than their specific location</a:t>
            </a:r>
            <a:endParaRPr sz="1600">
              <a:solidFill>
                <a:srgbClr val="FFFFFF"/>
              </a:solidFill>
              <a:latin typeface="Poppins"/>
              <a:ea typeface="Poppins"/>
              <a:cs typeface="Poppins"/>
              <a:sym typeface="Poppins"/>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654"/>
        </a:solidFill>
      </p:bgPr>
    </p:bg>
    <p:spTree>
      <p:nvGrpSpPr>
        <p:cNvPr id="89" name="Shape 89"/>
        <p:cNvGrpSpPr/>
        <p:nvPr/>
      </p:nvGrpSpPr>
      <p:grpSpPr>
        <a:xfrm>
          <a:off x="0" y="0"/>
          <a:ext cx="0" cy="0"/>
          <a:chOff x="0" y="0"/>
          <a:chExt cx="0" cy="0"/>
        </a:xfrm>
      </p:grpSpPr>
      <p:sp>
        <p:nvSpPr>
          <p:cNvPr id="90" name="Google Shape;90;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oppins Medium"/>
                <a:ea typeface="Poppins Medium"/>
                <a:cs typeface="Poppins Medium"/>
                <a:sym typeface="Poppins Medium"/>
              </a:rPr>
              <a:t>Results &amp; Improvement Potential</a:t>
            </a:r>
            <a:endParaRPr>
              <a:solidFill>
                <a:schemeClr val="lt1"/>
              </a:solidFill>
              <a:latin typeface="Poppins Medium"/>
              <a:ea typeface="Poppins Medium"/>
              <a:cs typeface="Poppins Medium"/>
              <a:sym typeface="Poppins Medium"/>
            </a:endParaRPr>
          </a:p>
          <a:p>
            <a:pPr indent="0" lvl="0" marL="0" rtl="0" algn="l">
              <a:spcBef>
                <a:spcPts val="0"/>
              </a:spcBef>
              <a:spcAft>
                <a:spcPts val="0"/>
              </a:spcAft>
              <a:buNone/>
            </a:pPr>
            <a:r>
              <a:t/>
            </a:r>
            <a:endParaRPr/>
          </a:p>
        </p:txBody>
      </p:sp>
      <p:sp>
        <p:nvSpPr>
          <p:cNvPr id="91" name="Google Shape;91;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I was able to get the </a:t>
            </a:r>
            <a:r>
              <a:rPr lang="en" sz="1600">
                <a:solidFill>
                  <a:srgbClr val="FFFFFF"/>
                </a:solidFill>
                <a:latin typeface="Poppins"/>
                <a:ea typeface="Poppins"/>
                <a:cs typeface="Poppins"/>
                <a:sym typeface="Poppins"/>
              </a:rPr>
              <a:t>accuracy</a:t>
            </a:r>
            <a:r>
              <a:rPr lang="en" sz="1600">
                <a:solidFill>
                  <a:srgbClr val="FFFFFF"/>
                </a:solidFill>
                <a:latin typeface="Poppins"/>
                <a:ea typeface="Poppins"/>
                <a:cs typeface="Poppins"/>
                <a:sym typeface="Poppins"/>
              </a:rPr>
              <a:t> to similar values on training and validation sets (around 0.6)</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However, this is still lower than I would like </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The model might not be deep </a:t>
            </a:r>
            <a:r>
              <a:rPr lang="en" sz="1600">
                <a:solidFill>
                  <a:srgbClr val="FFFFFF"/>
                </a:solidFill>
                <a:latin typeface="Poppins"/>
                <a:ea typeface="Poppins"/>
                <a:cs typeface="Poppins"/>
                <a:sym typeface="Poppins"/>
              </a:rPr>
              <a:t>enough</a:t>
            </a:r>
            <a:r>
              <a:rPr lang="en" sz="1600">
                <a:solidFill>
                  <a:srgbClr val="FFFFFF"/>
                </a:solidFill>
                <a:latin typeface="Poppins"/>
                <a:ea typeface="Poppins"/>
                <a:cs typeface="Poppins"/>
                <a:sym typeface="Poppins"/>
              </a:rPr>
              <a:t> to handle the complex features of 10 different animal species - added more convolutional layers</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Data Augmentation might be too strong - reduced the arguments </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Implemented Batch Normalization across all five convolutional blocks to stabilize the learning process and allow for a higher learning rate</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chemeClr val="lt1"/>
                </a:solidFill>
                <a:latin typeface="Poppins"/>
                <a:ea typeface="Poppins"/>
                <a:cs typeface="Poppins"/>
                <a:sym typeface="Poppins"/>
              </a:rPr>
              <a:t>Used a ReduceLROnPlateau callback to dynamically adjust the learning rate</a:t>
            </a:r>
            <a:endParaRPr sz="1600">
              <a:solidFill>
                <a:schemeClr val="lt1"/>
              </a:solidFill>
              <a:latin typeface="Poppins"/>
              <a:ea typeface="Poppins"/>
              <a:cs typeface="Poppins"/>
              <a:sym typeface="Poppins"/>
            </a:endParaRPr>
          </a:p>
          <a:p>
            <a:pPr indent="0" lvl="0" marL="0" rtl="0" algn="l">
              <a:spcBef>
                <a:spcPts val="1200"/>
              </a:spcBef>
              <a:spcAft>
                <a:spcPts val="1200"/>
              </a:spcAft>
              <a:buNone/>
            </a:pPr>
            <a:r>
              <a:t/>
            </a:r>
            <a:endParaRPr sz="1600">
              <a:solidFill>
                <a:schemeClr val="lt1"/>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654"/>
        </a:solidFill>
      </p:bgPr>
    </p:bg>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oppins Medium"/>
                <a:ea typeface="Poppins Medium"/>
                <a:cs typeface="Poppins Medium"/>
                <a:sym typeface="Poppins Medium"/>
              </a:rPr>
              <a:t>Final Architecture</a:t>
            </a:r>
            <a:endParaRPr>
              <a:solidFill>
                <a:schemeClr val="lt1"/>
              </a:solidFill>
              <a:latin typeface="Poppins Medium"/>
              <a:ea typeface="Poppins Medium"/>
              <a:cs typeface="Poppins Medium"/>
              <a:sym typeface="Poppins Medium"/>
            </a:endParaRPr>
          </a:p>
          <a:p>
            <a:pPr indent="0" lvl="0" marL="0" rtl="0" algn="l">
              <a:spcBef>
                <a:spcPts val="0"/>
              </a:spcBef>
              <a:spcAft>
                <a:spcPts val="0"/>
              </a:spcAft>
              <a:buNone/>
            </a:pPr>
            <a:r>
              <a:t/>
            </a:r>
            <a:endParaRPr/>
          </a:p>
        </p:txBody>
      </p:sp>
      <p:sp>
        <p:nvSpPr>
          <p:cNvPr id="97" name="Google Shape;97;p19"/>
          <p:cNvSpPr txBox="1"/>
          <p:nvPr>
            <p:ph idx="1" type="body"/>
          </p:nvPr>
        </p:nvSpPr>
        <p:spPr>
          <a:xfrm>
            <a:off x="311700" y="1152475"/>
            <a:ext cx="45711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After some additional experimentation, I came up with this architecture</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5 convolutional layers </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Batch Normalization after each layer</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Positioned the Batch Normalization layers before the ReLU so that data is centered and scaled before being transformed</a:t>
            </a:r>
            <a:endParaRPr sz="1600">
              <a:solidFill>
                <a:srgbClr val="FFFFFF"/>
              </a:solidFill>
              <a:latin typeface="Poppins"/>
              <a:ea typeface="Poppins"/>
              <a:cs typeface="Poppins"/>
              <a:sym typeface="Poppins"/>
            </a:endParaRPr>
          </a:p>
          <a:p>
            <a:pPr indent="0" lvl="0" marL="0" rtl="0" algn="l">
              <a:spcBef>
                <a:spcPts val="1200"/>
              </a:spcBef>
              <a:spcAft>
                <a:spcPts val="1200"/>
              </a:spcAft>
              <a:buNone/>
            </a:pPr>
            <a:r>
              <a:t/>
            </a:r>
            <a:endParaRPr/>
          </a:p>
        </p:txBody>
      </p:sp>
      <p:pic>
        <p:nvPicPr>
          <p:cNvPr id="98" name="Google Shape;98;p19" title="Screenshot 2026-03-05 at 11.33.16.png"/>
          <p:cNvPicPr preferRelativeResize="0"/>
          <p:nvPr/>
        </p:nvPicPr>
        <p:blipFill>
          <a:blip r:embed="rId3">
            <a:alphaModFix/>
          </a:blip>
          <a:stretch>
            <a:fillRect/>
          </a:stretch>
        </p:blipFill>
        <p:spPr>
          <a:xfrm>
            <a:off x="5715000" y="395900"/>
            <a:ext cx="2893675" cy="4351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654"/>
        </a:solidFill>
      </p:bgPr>
    </p:bg>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oppins Medium"/>
                <a:ea typeface="Poppins Medium"/>
                <a:cs typeface="Poppins Medium"/>
                <a:sym typeface="Poppins Medium"/>
              </a:rPr>
              <a:t>Final Results </a:t>
            </a:r>
            <a:endParaRPr>
              <a:solidFill>
                <a:schemeClr val="lt1"/>
              </a:solidFill>
              <a:latin typeface="Poppins Medium"/>
              <a:ea typeface="Poppins Medium"/>
              <a:cs typeface="Poppins Medium"/>
              <a:sym typeface="Poppins Medium"/>
            </a:endParaRPr>
          </a:p>
        </p:txBody>
      </p:sp>
      <p:sp>
        <p:nvSpPr>
          <p:cNvPr id="104" name="Google Shape;104;p20"/>
          <p:cNvSpPr txBox="1"/>
          <p:nvPr>
            <p:ph idx="1" type="body"/>
          </p:nvPr>
        </p:nvSpPr>
        <p:spPr>
          <a:xfrm>
            <a:off x="311700" y="1152475"/>
            <a:ext cx="5008200" cy="15780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lt1"/>
              </a:buClr>
              <a:buSzPts val="1600"/>
              <a:buFont typeface="Poppins"/>
              <a:buChar char="●"/>
            </a:pPr>
            <a:r>
              <a:rPr lang="en" sz="1600">
                <a:solidFill>
                  <a:schemeClr val="lt1"/>
                </a:solidFill>
                <a:latin typeface="Poppins"/>
                <a:ea typeface="Poppins"/>
                <a:cs typeface="Poppins"/>
                <a:sym typeface="Poppins"/>
              </a:rPr>
              <a:t>Accuracy: 0.85 on training set, 0.82 on validation set </a:t>
            </a:r>
            <a:endParaRPr sz="1600">
              <a:solidFill>
                <a:schemeClr val="lt1"/>
              </a:solidFill>
              <a:latin typeface="Poppins"/>
              <a:ea typeface="Poppins"/>
              <a:cs typeface="Poppins"/>
              <a:sym typeface="Poppins"/>
            </a:endParaRPr>
          </a:p>
          <a:p>
            <a:pPr indent="-330200" lvl="0" marL="457200" rtl="0" algn="l">
              <a:spcBef>
                <a:spcPts val="0"/>
              </a:spcBef>
              <a:spcAft>
                <a:spcPts val="0"/>
              </a:spcAft>
              <a:buClr>
                <a:schemeClr val="lt1"/>
              </a:buClr>
              <a:buSzPts val="1600"/>
              <a:buFont typeface="Poppins"/>
              <a:buChar char="●"/>
            </a:pPr>
            <a:r>
              <a:rPr lang="en" sz="1600">
                <a:solidFill>
                  <a:schemeClr val="lt1"/>
                </a:solidFill>
                <a:latin typeface="Poppins"/>
                <a:ea typeface="Poppins"/>
                <a:cs typeface="Poppins"/>
                <a:sym typeface="Poppins"/>
              </a:rPr>
              <a:t>Precision: , recall: , F1: </a:t>
            </a:r>
            <a:endParaRPr sz="1600">
              <a:solidFill>
                <a:schemeClr val="lt1"/>
              </a:solidFill>
              <a:latin typeface="Poppins"/>
              <a:ea typeface="Poppins"/>
              <a:cs typeface="Poppins"/>
              <a:sym typeface="Poppins"/>
            </a:endParaRPr>
          </a:p>
          <a:p>
            <a:pPr indent="0" lvl="0" marL="0" rtl="0" algn="l">
              <a:spcBef>
                <a:spcPts val="1200"/>
              </a:spcBef>
              <a:spcAft>
                <a:spcPts val="1200"/>
              </a:spcAft>
              <a:buNone/>
            </a:pPr>
            <a:r>
              <a:t/>
            </a:r>
            <a:endParaRPr>
              <a:solidFill>
                <a:schemeClr val="lt1"/>
              </a:solidFill>
              <a:latin typeface="Poppins"/>
              <a:ea typeface="Poppins"/>
              <a:cs typeface="Poppins"/>
              <a:sym typeface="Poppins"/>
            </a:endParaRPr>
          </a:p>
        </p:txBody>
      </p:sp>
      <p:pic>
        <p:nvPicPr>
          <p:cNvPr id="105" name="Google Shape;105;p20" title="Screenshot 2026-03-04 at 22.36.03.png"/>
          <p:cNvPicPr preferRelativeResize="0"/>
          <p:nvPr/>
        </p:nvPicPr>
        <p:blipFill>
          <a:blip r:embed="rId3">
            <a:alphaModFix/>
          </a:blip>
          <a:stretch>
            <a:fillRect/>
          </a:stretch>
        </p:blipFill>
        <p:spPr>
          <a:xfrm>
            <a:off x="5408100" y="257430"/>
            <a:ext cx="3172751" cy="2694526"/>
          </a:xfrm>
          <a:prstGeom prst="rect">
            <a:avLst/>
          </a:prstGeom>
          <a:noFill/>
          <a:ln>
            <a:noFill/>
          </a:ln>
        </p:spPr>
      </p:pic>
      <p:pic>
        <p:nvPicPr>
          <p:cNvPr id="106" name="Google Shape;106;p20" title="Screenshot 2026-03-05 at 11.08.48.png"/>
          <p:cNvPicPr preferRelativeResize="0"/>
          <p:nvPr/>
        </p:nvPicPr>
        <p:blipFill>
          <a:blip r:embed="rId4">
            <a:alphaModFix/>
          </a:blip>
          <a:stretch>
            <a:fillRect/>
          </a:stretch>
        </p:blipFill>
        <p:spPr>
          <a:xfrm>
            <a:off x="843850" y="2164625"/>
            <a:ext cx="2683926" cy="1547625"/>
          </a:xfrm>
          <a:prstGeom prst="rect">
            <a:avLst/>
          </a:prstGeom>
          <a:noFill/>
          <a:ln>
            <a:noFill/>
          </a:ln>
        </p:spPr>
      </p:pic>
      <p:sp>
        <p:nvSpPr>
          <p:cNvPr id="107" name="Google Shape;107;p20"/>
          <p:cNvSpPr txBox="1"/>
          <p:nvPr>
            <p:ph idx="1" type="body"/>
          </p:nvPr>
        </p:nvSpPr>
        <p:spPr>
          <a:xfrm>
            <a:off x="311700" y="3761575"/>
            <a:ext cx="6848100" cy="12336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lt1"/>
              </a:buClr>
              <a:buSzPts val="1600"/>
              <a:buFont typeface="Poppins"/>
              <a:buChar char="●"/>
            </a:pPr>
            <a:r>
              <a:rPr lang="en" sz="1600">
                <a:solidFill>
                  <a:schemeClr val="lt1"/>
                </a:solidFill>
                <a:latin typeface="Poppins"/>
                <a:ea typeface="Poppins"/>
                <a:cs typeface="Poppins"/>
                <a:sym typeface="Poppins"/>
              </a:rPr>
              <a:t>Accuracy and loss curves:</a:t>
            </a:r>
            <a:endParaRPr/>
          </a:p>
        </p:txBody>
      </p:sp>
      <p:pic>
        <p:nvPicPr>
          <p:cNvPr id="108" name="Google Shape;108;p20" title="Screenshot 2026-03-05 at 17.20.27.png"/>
          <p:cNvPicPr preferRelativeResize="0"/>
          <p:nvPr/>
        </p:nvPicPr>
        <p:blipFill>
          <a:blip r:embed="rId5">
            <a:alphaModFix/>
          </a:blip>
          <a:stretch>
            <a:fillRect/>
          </a:stretch>
        </p:blipFill>
        <p:spPr>
          <a:xfrm>
            <a:off x="4956225" y="3129525"/>
            <a:ext cx="3624626" cy="17144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654"/>
        </a:solidFill>
      </p:bgPr>
    </p:bg>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oppins Medium"/>
                <a:ea typeface="Poppins Medium"/>
                <a:cs typeface="Poppins Medium"/>
                <a:sym typeface="Poppins Medium"/>
              </a:rPr>
              <a:t>Observations</a:t>
            </a:r>
            <a:endParaRPr>
              <a:solidFill>
                <a:schemeClr val="lt1"/>
              </a:solidFill>
              <a:latin typeface="Poppins Medium"/>
              <a:ea typeface="Poppins Medium"/>
              <a:cs typeface="Poppins Medium"/>
              <a:sym typeface="Poppins Medium"/>
            </a:endParaRPr>
          </a:p>
        </p:txBody>
      </p:sp>
      <p:sp>
        <p:nvSpPr>
          <p:cNvPr id="114" name="Google Shape;114;p21"/>
          <p:cNvSpPr txBox="1"/>
          <p:nvPr>
            <p:ph idx="1" type="body"/>
          </p:nvPr>
        </p:nvSpPr>
        <p:spPr>
          <a:xfrm>
            <a:off x="109900" y="1152475"/>
            <a:ext cx="8180100" cy="35859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lt1"/>
              </a:buClr>
              <a:buSzPts val="1600"/>
              <a:buFont typeface="Poppins"/>
              <a:buChar char="●"/>
            </a:pPr>
            <a:r>
              <a:rPr lang="en" sz="1600">
                <a:solidFill>
                  <a:schemeClr val="lt1"/>
                </a:solidFill>
                <a:latin typeface="Poppins"/>
                <a:ea typeface="Poppins"/>
                <a:cs typeface="Poppins"/>
                <a:sym typeface="Poppins"/>
              </a:rPr>
              <a:t>The model produces best results with spiders and chickens - probably due to their distinct features (8 legs, beak, comb)</a:t>
            </a:r>
            <a:endParaRPr sz="1600">
              <a:solidFill>
                <a:schemeClr val="lt1"/>
              </a:solidFill>
              <a:latin typeface="Poppins"/>
              <a:ea typeface="Poppins"/>
              <a:cs typeface="Poppins"/>
              <a:sym typeface="Poppins"/>
            </a:endParaRPr>
          </a:p>
          <a:p>
            <a:pPr indent="-330200" lvl="0" marL="457200" rtl="0" algn="l">
              <a:spcBef>
                <a:spcPts val="0"/>
              </a:spcBef>
              <a:spcAft>
                <a:spcPts val="0"/>
              </a:spcAft>
              <a:buClr>
                <a:schemeClr val="lt1"/>
              </a:buClr>
              <a:buSzPts val="1600"/>
              <a:buFont typeface="Poppins"/>
              <a:buChar char="●"/>
            </a:pPr>
            <a:r>
              <a:rPr lang="en" sz="1600">
                <a:solidFill>
                  <a:schemeClr val="lt1"/>
                </a:solidFill>
                <a:latin typeface="Poppins"/>
                <a:ea typeface="Poppins"/>
                <a:cs typeface="Poppins"/>
                <a:sym typeface="Poppins"/>
              </a:rPr>
              <a:t>The recall on dogs is relatively poor - the model is highly </a:t>
            </a:r>
            <a:r>
              <a:rPr lang="en" sz="1600">
                <a:solidFill>
                  <a:schemeClr val="lt1"/>
                </a:solidFill>
                <a:latin typeface="Poppins"/>
                <a:ea typeface="Poppins"/>
                <a:cs typeface="Poppins"/>
                <a:sym typeface="Poppins"/>
              </a:rPr>
              <a:t>accurate when it does predict a dog, but fails to capture 37% of the dog set </a:t>
            </a:r>
            <a:endParaRPr sz="1600">
              <a:solidFill>
                <a:schemeClr val="lt1"/>
              </a:solidFill>
              <a:latin typeface="Poppins"/>
              <a:ea typeface="Poppins"/>
              <a:cs typeface="Poppins"/>
              <a:sym typeface="Poppins"/>
            </a:endParaRPr>
          </a:p>
          <a:p>
            <a:pPr indent="-330200" lvl="0" marL="457200" rtl="0" algn="l">
              <a:spcBef>
                <a:spcPts val="0"/>
              </a:spcBef>
              <a:spcAft>
                <a:spcPts val="0"/>
              </a:spcAft>
              <a:buClr>
                <a:schemeClr val="lt1"/>
              </a:buClr>
              <a:buSzPts val="1600"/>
              <a:buFont typeface="Poppins"/>
              <a:buChar char="●"/>
            </a:pPr>
            <a:r>
              <a:rPr lang="en" sz="1600">
                <a:solidFill>
                  <a:schemeClr val="lt1"/>
                </a:solidFill>
                <a:latin typeface="Poppins"/>
                <a:ea typeface="Poppins"/>
                <a:cs typeface="Poppins"/>
                <a:sym typeface="Poppins"/>
              </a:rPr>
              <a:t>The precision on cats is relatively poor - many animals that are not cats got incorrectly classified as such </a:t>
            </a:r>
            <a:endParaRPr sz="1600">
              <a:solidFill>
                <a:schemeClr val="lt1"/>
              </a:solidFill>
              <a:latin typeface="Poppins"/>
              <a:ea typeface="Poppins"/>
              <a:cs typeface="Poppins"/>
              <a:sym typeface="Poppins"/>
            </a:endParaRPr>
          </a:p>
          <a:p>
            <a:pPr indent="-330200" lvl="0" marL="457200" rtl="0" algn="l">
              <a:spcBef>
                <a:spcPts val="0"/>
              </a:spcBef>
              <a:spcAft>
                <a:spcPts val="0"/>
              </a:spcAft>
              <a:buClr>
                <a:schemeClr val="lt1"/>
              </a:buClr>
              <a:buSzPts val="1600"/>
              <a:buFont typeface="Poppins"/>
              <a:buChar char="●"/>
            </a:pPr>
            <a:r>
              <a:rPr lang="en" sz="1600">
                <a:solidFill>
                  <a:schemeClr val="lt1"/>
                </a:solidFill>
                <a:latin typeface="Poppins"/>
                <a:ea typeface="Poppins"/>
                <a:cs typeface="Poppins"/>
                <a:sym typeface="Poppins"/>
              </a:rPr>
              <a:t>This can be explained by high confusion with other four-legged mammals and potentially similar backgrounds </a:t>
            </a:r>
            <a:endParaRPr sz="1600">
              <a:solidFill>
                <a:schemeClr val="lt1"/>
              </a:solidFill>
              <a:latin typeface="Poppins"/>
              <a:ea typeface="Poppins"/>
              <a:cs typeface="Poppins"/>
              <a:sym typeface="Poppins"/>
            </a:endParaRPr>
          </a:p>
          <a:p>
            <a:pPr indent="-330200" lvl="0" marL="457200" rtl="0" algn="l">
              <a:spcBef>
                <a:spcPts val="0"/>
              </a:spcBef>
              <a:spcAft>
                <a:spcPts val="0"/>
              </a:spcAft>
              <a:buClr>
                <a:schemeClr val="lt1"/>
              </a:buClr>
              <a:buSzPts val="1600"/>
              <a:buFont typeface="Poppins"/>
              <a:buChar char="●"/>
            </a:pPr>
            <a:r>
              <a:rPr lang="en" sz="1600">
                <a:solidFill>
                  <a:schemeClr val="lt1"/>
                </a:solidFill>
                <a:latin typeface="Poppins"/>
                <a:ea typeface="Poppins"/>
                <a:cs typeface="Poppins"/>
                <a:sym typeface="Poppins"/>
              </a:rPr>
              <a:t>Weighted average is nearly the same as macro average, suggesting that the model was able to handle unbalanced classes well </a:t>
            </a:r>
            <a:endParaRPr sz="1600">
              <a:solidFill>
                <a:schemeClr val="lt1"/>
              </a:solidFill>
              <a:latin typeface="Poppins"/>
              <a:ea typeface="Poppins"/>
              <a:cs typeface="Poppins"/>
              <a:sym typeface="Poppins"/>
            </a:endParaRPr>
          </a:p>
          <a:p>
            <a:pPr indent="0" lvl="0" marL="0" rtl="0" algn="l">
              <a:spcBef>
                <a:spcPts val="1200"/>
              </a:spcBef>
              <a:spcAft>
                <a:spcPts val="1200"/>
              </a:spcAft>
              <a:buNone/>
            </a:pPr>
            <a:r>
              <a:t/>
            </a:r>
            <a:endParaRPr>
              <a:solidFill>
                <a:schemeClr val="lt1"/>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D3654"/>
        </a:solidFill>
      </p:bgPr>
    </p:bg>
    <p:spTree>
      <p:nvGrpSpPr>
        <p:cNvPr id="118" name="Shape 118"/>
        <p:cNvGrpSpPr/>
        <p:nvPr/>
      </p:nvGrpSpPr>
      <p:grpSpPr>
        <a:xfrm>
          <a:off x="0" y="0"/>
          <a:ext cx="0" cy="0"/>
          <a:chOff x="0" y="0"/>
          <a:chExt cx="0" cy="0"/>
        </a:xfrm>
      </p:grpSpPr>
      <p:sp>
        <p:nvSpPr>
          <p:cNvPr id="119" name="Google Shape;11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lt1"/>
                </a:solidFill>
                <a:latin typeface="Poppins Medium"/>
                <a:ea typeface="Poppins Medium"/>
                <a:cs typeface="Poppins Medium"/>
                <a:sym typeface="Poppins Medium"/>
              </a:rPr>
              <a:t>Transfer Learning</a:t>
            </a:r>
            <a:endParaRPr>
              <a:solidFill>
                <a:schemeClr val="lt1"/>
              </a:solidFill>
              <a:latin typeface="Poppins Medium"/>
              <a:ea typeface="Poppins Medium"/>
              <a:cs typeface="Poppins Medium"/>
              <a:sym typeface="Poppins Medium"/>
            </a:endParaRPr>
          </a:p>
        </p:txBody>
      </p:sp>
      <p:sp>
        <p:nvSpPr>
          <p:cNvPr id="120" name="Google Shape;120;p22"/>
          <p:cNvSpPr txBox="1"/>
          <p:nvPr>
            <p:ph idx="1" type="body"/>
          </p:nvPr>
        </p:nvSpPr>
        <p:spPr>
          <a:xfrm>
            <a:off x="311700" y="1152475"/>
            <a:ext cx="45495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I tested 3 models: MobileNet, VGG16, and Inception</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On each of them, the accuracy on the validation set was between 0.95 and 0.97</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If I were to choose one for my project, I would use MobileNet as it turned out to be the most lightweight (13.6MB) </a:t>
            </a:r>
            <a:endParaRPr sz="1600">
              <a:solidFill>
                <a:srgbClr val="FFFFFF"/>
              </a:solidFill>
              <a:latin typeface="Poppins"/>
              <a:ea typeface="Poppins"/>
              <a:cs typeface="Poppins"/>
              <a:sym typeface="Poppins"/>
            </a:endParaRPr>
          </a:p>
          <a:p>
            <a:pPr indent="-330200" lvl="0" marL="457200" rtl="0" algn="l">
              <a:spcBef>
                <a:spcPts val="0"/>
              </a:spcBef>
              <a:spcAft>
                <a:spcPts val="0"/>
              </a:spcAft>
              <a:buClr>
                <a:srgbClr val="FFFFFF"/>
              </a:buClr>
              <a:buSzPts val="1600"/>
              <a:buFont typeface="Poppins"/>
              <a:buChar char="●"/>
            </a:pPr>
            <a:r>
              <a:rPr lang="en" sz="1600">
                <a:solidFill>
                  <a:srgbClr val="FFFFFF"/>
                </a:solidFill>
                <a:latin typeface="Poppins"/>
                <a:ea typeface="Poppins"/>
                <a:cs typeface="Poppins"/>
                <a:sym typeface="Poppins"/>
              </a:rPr>
              <a:t>But for this project, I decided to stick to my custom </a:t>
            </a:r>
            <a:r>
              <a:rPr lang="en" sz="1600">
                <a:solidFill>
                  <a:srgbClr val="FFFFFF"/>
                </a:solidFill>
                <a:latin typeface="Poppins"/>
                <a:ea typeface="Poppins"/>
                <a:cs typeface="Poppins"/>
                <a:sym typeface="Poppins"/>
              </a:rPr>
              <a:t>model 🙂</a:t>
            </a:r>
            <a:endParaRPr sz="1600">
              <a:solidFill>
                <a:srgbClr val="FFFFFF"/>
              </a:solidFill>
              <a:latin typeface="Poppins"/>
              <a:ea typeface="Poppins"/>
              <a:cs typeface="Poppins"/>
              <a:sym typeface="Poppins"/>
            </a:endParaRPr>
          </a:p>
          <a:p>
            <a:pPr indent="0" lvl="0" marL="0" rtl="0" algn="l">
              <a:spcBef>
                <a:spcPts val="1200"/>
              </a:spcBef>
              <a:spcAft>
                <a:spcPts val="1200"/>
              </a:spcAft>
              <a:buNone/>
            </a:pPr>
            <a:r>
              <a:t/>
            </a:r>
            <a:endParaRPr/>
          </a:p>
        </p:txBody>
      </p:sp>
      <p:pic>
        <p:nvPicPr>
          <p:cNvPr id="121" name="Google Shape;121;p22" title="Screenshot 2026-03-05 at 11.19.19.png"/>
          <p:cNvPicPr preferRelativeResize="0"/>
          <p:nvPr/>
        </p:nvPicPr>
        <p:blipFill>
          <a:blip r:embed="rId3">
            <a:alphaModFix/>
          </a:blip>
          <a:stretch>
            <a:fillRect/>
          </a:stretch>
        </p:blipFill>
        <p:spPr>
          <a:xfrm>
            <a:off x="4861200" y="2393325"/>
            <a:ext cx="3977998" cy="24688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